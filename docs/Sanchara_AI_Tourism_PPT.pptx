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snapToObjects="1">
      <p:cViewPr varScale="1">
        <p:scale>
          <a:sx n="60" d="100"/>
          <a:sy n="60" d="100"/>
        </p:scale>
        <p:origin x="-884" y="-8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We are team ____ from ____. Our project is Sanchara.AI — 'sanchara' means travel in Kannada. It is a personalised tourism recommendation system for Karnataka: tell it where you are, what you love, how many days and your budget, and it plans the places, the route, the food at the right time and the stay for the night — in seconds, in English or Kannada, even offline.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a tourist uses six or more apps and still guesses: maps give routes but not what to see, food apps don't know your plan, hotels are far from your last stop, and budgets overshoot. Here in Bagalkot, Badami, Aihole and Pattadakal are within 40 km, yet most visitors see only one. Demand is rising — domestic tourist visits more than doubled between 2014 and 2023 (Ministry of Tourism, AIR News). Our target users are tourists, families, students and seniors on North Karnataka circuits.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solution works in four steps: Ask, Rank, Plan, Go. The tourist answers four questions. The AI ranks places with a hybrid recommender and shows the reason for every pick. Then it builds the itinerary — an optimised route, meals timed to the clock including stops on long drives, a stay for each night, and a budget meter with a buffer. If you dislike a suggestion, the model learns instantly and re-plans.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Technically, all the AI runs on the device in JavaScript — a plan takes about 40 milliseconds, so it works at remote sites without internet. The ranker is a logistic-regression learning-to-rank model trained in Python on simulated tourists; the weights are exported into the app. When online we add live road routes from OSRM, live restaurants and hotels from OpenStreetMap, weather from Open-Meteo, and Gemini for chat — the API key never leaves the server.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I share my location — it detects Bagalkot. I choose heritage and boating, two days, a family of four, fifteen thousand rupees with a three-thousand buffer. In seconds we get the itinerary: each place with its match score and reasons, breakfast, lunch, snacks and dinner at the right times with local dishes, and a KSTDC stay for the night. The budget tab shows we are within budget. I dislike one temple — it re-ranks instantly. Finally I ask the assistant what to eat now.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Results: on 240 tourists the model had never seen, our learned ranker reaches NDCG@10 of 0.65 against 0.52 for the best simple baseline — a 26 percent lift — with precision@5 of 0.71. Across 300 random trips the route optimiser cuts driving by 28 percent, 99 percent of plans stay within budget plus buffer, and every meal lands in the right time window. It costs nothing to run and spreads tourists to lesser-known heritage sites and local businesses. To be transparent: training data is simulated because we have no real users yet; the same script retrains on real feedback.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Sanchara.AI turns four simple answers into a complete, budget-safe trip — places, routes, food, stays and activities — planned by explainable AI in seconds, offline and in Kannada. We believe it can bring more travellers to North Karnataka's heritage beyond a single famous site, at zero cost. Thank you — ಧನ್ಯವಾದಗಳು. We're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pPr/>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pPr/>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pPr/>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pPr/>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pPr/>
              <a:t>9/21/2026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pPr/>
              <a:t>9/21/2026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pPr/>
              <a:t>9/21/2026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pPr/>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pPr/>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pPr/>
              <a:t>9/21/2026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685800"/>
            <a:ext cx="10972800" cy="640080"/>
          </a:xfrm>
          <a:prstGeom prst="rect">
            <a:avLst/>
          </a:prstGeom>
          <a:noFill/>
        </p:spPr>
        <p:txBody>
          <a:bodyPr wrap="none">
            <a:spAutoFit/>
          </a:bodyPr>
          <a:lstStyle/>
          <a:p>
            <a:pPr>
              <a:defRPr sz="2800" b="1"/>
            </a:pPr>
            <a:r>
              <a:t>AI TO REDESIGN TOURISM</a:t>
            </a:r>
          </a:p>
        </p:txBody>
      </p:sp>
      <p:sp>
        <p:nvSpPr>
          <p:cNvPr id="3" name="TextBox 2"/>
          <p:cNvSpPr txBox="1"/>
          <p:nvPr/>
        </p:nvSpPr>
        <p:spPr>
          <a:xfrm>
            <a:off x="640080" y="1325880"/>
            <a:ext cx="10789920" cy="365760"/>
          </a:xfrm>
          <a:prstGeom prst="rect">
            <a:avLst/>
          </a:prstGeom>
          <a:noFill/>
        </p:spPr>
        <p:txBody>
          <a:bodyPr wrap="none">
            <a:spAutoFit/>
          </a:bodyPr>
          <a:lstStyle/>
          <a:p>
            <a:pPr>
              <a:defRPr sz="1400"/>
            </a:pPr>
            <a:r>
              <a:t>Project Competition • 25 September 2026</a:t>
            </a:r>
          </a:p>
        </p:txBody>
      </p:sp>
      <p:sp>
        <p:nvSpPr>
          <p:cNvPr id="4" name="Rounded Rectangle 3"/>
          <p:cNvSpPr/>
          <p:nvPr/>
        </p:nvSpPr>
        <p:spPr>
          <a:xfrm>
            <a:off x="1828800" y="1783080"/>
            <a:ext cx="8503920" cy="1051560"/>
          </a:xfrm>
          <a:prstGeom prst="roundRect">
            <a:avLst/>
          </a:prstGeom>
          <a:solidFill>
            <a:srgbClr val="1D274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a:pPr>
            <a:r>
              <a:rPr sz="2600" b="1">
                <a:solidFill>
                  <a:srgbClr val="F6EAD6"/>
                </a:solidFill>
              </a:rPr>
              <a:t>Sanchara.AI  —  ಸಂಚಾರ</a:t>
            </a:r>
          </a:p>
          <a:p>
            <a:pPr algn="ctr"/>
            <a:r>
              <a:rPr sz="1400">
                <a:solidFill>
                  <a:srgbClr val="F3C877"/>
                </a:solidFill>
              </a:rPr>
              <a:t>Personalized Tourism Recommendation System  ·  Smart Technology · Problem #3</a:t>
            </a:r>
          </a:p>
        </p:txBody>
      </p:sp>
      <p:sp>
        <p:nvSpPr>
          <p:cNvPr id="5" name="Rounded Rectangle 4"/>
          <p:cNvSpPr/>
          <p:nvPr/>
        </p:nvSpPr>
        <p:spPr>
          <a:xfrm>
            <a:off x="2743200" y="3017520"/>
            <a:ext cx="6675120" cy="1097280"/>
          </a:xfrm>
          <a:prstGeom prst="roundRect">
            <a:avLst/>
          </a:prstGeom>
          <a:solidFill>
            <a:srgbClr val="F5EEE2"/>
          </a:solidFill>
          <a:ln>
            <a:solidFill>
              <a:srgbClr val="E7DCC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700"/>
            </a:pPr>
            <a:r>
              <a:rPr b="1" sz="1500">
                <a:solidFill>
                  <a:srgbClr val="B4532A"/>
                </a:solidFill>
              </a:rPr>
              <a:t>Team Name: </a:t>
            </a:r>
            <a:r>
              <a:rPr sz="1500">
                <a:solidFill>
                  <a:srgbClr val="221B14"/>
                </a:solidFill>
              </a:rPr>
              <a:t>______________________</a:t>
            </a:r>
          </a:p>
          <a:p>
            <a:pPr algn="l"/>
            <a:r>
              <a:rPr b="1" sz="1500">
                <a:solidFill>
                  <a:srgbClr val="B4532A"/>
                </a:solidFill>
              </a:rPr>
              <a:t>Institution: </a:t>
            </a:r>
            <a:r>
              <a:rPr sz="1500">
                <a:solidFill>
                  <a:srgbClr val="221B14"/>
                </a:solidFill>
              </a:rPr>
              <a:t>______________________</a:t>
            </a:r>
          </a:p>
          <a:p>
            <a:pPr algn="l"/>
            <a:r>
              <a:rPr b="1" sz="1500">
                <a:solidFill>
                  <a:srgbClr val="B4532A"/>
                </a:solidFill>
              </a:rPr>
              <a:t>Team Members: </a:t>
            </a:r>
            <a:r>
              <a:rPr sz="1500">
                <a:solidFill>
                  <a:srgbClr val="221B14"/>
                </a:solidFill>
              </a:rPr>
              <a:t>______________________</a:t>
            </a:r>
          </a:p>
        </p:txBody>
      </p:sp>
      <p:sp>
        <p:nvSpPr>
          <p:cNvPr id="6" name="TextBox 5"/>
          <p:cNvSpPr txBox="1"/>
          <p:nvPr/>
        </p:nvSpPr>
        <p:spPr>
          <a:xfrm>
            <a:off x="548640" y="6473952"/>
            <a:ext cx="10972800" cy="182880"/>
          </a:xfrm>
          <a:prstGeom prst="rect">
            <a:avLst/>
          </a:prstGeom>
          <a:noFill/>
        </p:spPr>
        <p:txBody>
          <a:bodyPr wrap="none">
            <a:spAutoFit/>
          </a:bodyPr>
          <a:lstStyle/>
          <a:p>
            <a:pPr algn="ctr">
              <a:defRPr sz="900"/>
            </a:pPr>
            <a:r>
              <a:t>AI to Redesign Tourism • Bagalkot • 25 September 2026</a:t>
            </a:r>
          </a:p>
        </p:txBody>
      </p:sp>
      <p:pic>
        <p:nvPicPr>
          <p:cNvPr id="8" name="Picture 7" descr="bvvs_bec_logo_crop.png"/>
          <p:cNvPicPr>
            <a:picLocks noChangeAspect="1"/>
          </p:cNvPicPr>
          <p:nvPr/>
        </p:nvPicPr>
        <p:blipFill>
          <a:blip r:embed="rId2"/>
          <a:stretch>
            <a:fillRect/>
          </a:stretch>
        </p:blipFill>
        <p:spPr>
          <a:xfrm>
            <a:off x="11369040" y="64008"/>
            <a:ext cx="543306" cy="566928"/>
          </a:xfrm>
          <a:prstGeom prst="rect">
            <a:avLst/>
          </a:prstGeom>
        </p:spPr>
      </p:pic>
      <p:pic>
        <p:nvPicPr>
          <p:cNvPr id="1027" name="Picture 3"/>
          <p:cNvPicPr>
            <a:picLocks noChangeAspect="1" noChangeArrowheads="1"/>
          </p:cNvPicPr>
          <p:nvPr/>
        </p:nvPicPr>
        <p:blipFill>
          <a:blip r:embed="rId3"/>
          <a:srcRect/>
          <a:stretch>
            <a:fillRect/>
          </a:stretch>
        </p:blipFill>
        <p:spPr bwMode="auto">
          <a:xfrm>
            <a:off x="0" y="54864"/>
            <a:ext cx="2193692" cy="630936"/>
          </a:xfrm>
          <a:prstGeom prst="rect">
            <a:avLst/>
          </a:prstGeom>
          <a:noFill/>
          <a:ln w="9525">
            <a:noFill/>
            <a:miter lim="800000"/>
            <a:headEnd/>
            <a:tailEnd/>
          </a:ln>
          <a:effectLst/>
        </p:spPr>
      </p:pic>
      <p:pic>
        <p:nvPicPr>
          <p:cNvPr id="1028" name="Picture 1027" descr="v_banner.png"/>
          <p:cNvPicPr>
            <a:picLocks noChangeAspect="1"/>
          </p:cNvPicPr>
          <p:nvPr/>
        </p:nvPicPr>
        <p:blipFill>
          <a:blip r:embed="rId4"/>
          <a:stretch>
            <a:fillRect/>
          </a:stretch>
        </p:blipFill>
        <p:spPr>
          <a:xfrm>
            <a:off x="475488" y="4434840"/>
            <a:ext cx="11247120" cy="187451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685800"/>
            <a:ext cx="10972800" cy="640080"/>
          </a:xfrm>
          <a:prstGeom prst="rect">
            <a:avLst/>
          </a:prstGeom>
          <a:noFill/>
        </p:spPr>
        <p:txBody>
          <a:bodyPr wrap="none">
            <a:spAutoFit/>
          </a:bodyPr>
          <a:lstStyle/>
          <a:p>
            <a:pPr>
              <a:defRPr sz="2800" b="1"/>
            </a:pPr>
            <a:r>
              <a:t>1. Tourism Problem</a:t>
            </a:r>
          </a:p>
        </p:txBody>
      </p:sp>
      <p:sp>
        <p:nvSpPr>
          <p:cNvPr id="3" name="TextBox 2"/>
          <p:cNvSpPr txBox="1"/>
          <p:nvPr/>
        </p:nvSpPr>
        <p:spPr>
          <a:xfrm>
            <a:off x="548640" y="1417320"/>
            <a:ext cx="5760720" cy="4389120"/>
          </a:xfrm>
          <a:prstGeom prst="rect">
            <a:avLst/>
          </a:prstGeom>
          <a:noFill/>
        </p:spPr>
        <p:txBody>
          <a:bodyPr wrap="square">
            <a:spAutoFit/>
          </a:bodyPr>
          <a:lstStyle/>
          <a:p>
            <a:pPr>
              <a:lnSpc>
                <a:spcPct val="105000"/>
              </a:lnSpc>
              <a:spcAft>
                <a:spcPts val="1000"/>
              </a:spcAft>
              <a:defRPr sz="2000"/>
            </a:pPr>
            <a:r>
              <a:rPr b="1" sz="1350">
                <a:solidFill>
                  <a:srgbClr val="B4532A"/>
                </a:solidFill>
              </a:rPr>
              <a:t>Problem: </a:t>
            </a:r>
            <a:r>
              <a:rPr sz="1300">
                <a:solidFill>
                  <a:srgbClr val="221B14"/>
                </a:solidFill>
              </a:rPr>
              <a:t>Planning a Karnataka trip means juggling maps, food apps, hotel sites, weather and blogs. Tourists still miss nearby heritage, eat at odd hours, overshoot budgets and get stuck without signal or Kannada signage.</a:t>
            </a:r>
          </a:p>
          <a:p>
            <a:pPr>
              <a:lnSpc>
                <a:spcPct val="105000"/>
              </a:lnSpc>
              <a:spcAft>
                <a:spcPts val="1000"/>
              </a:spcAft>
            </a:pPr>
            <a:r>
              <a:rPr b="1" sz="1350">
                <a:solidFill>
                  <a:srgbClr val="B4532A"/>
                </a:solidFill>
              </a:rPr>
              <a:t>Target users: </a:t>
            </a:r>
            <a:r>
              <a:rPr sz="1300">
                <a:solidFill>
                  <a:srgbClr val="221B14"/>
                </a:solidFill>
              </a:rPr>
              <a:t>Domestic &amp; foreign tourists, families, students, senior citizens and groups on North Karnataka circuits (Badami–Aihole–Pattadakal, Hampi, Vijayapura, Belagavi, Hubballi–Dharwad), plus on-the-spot travellers asking “what now?”</a:t>
            </a:r>
          </a:p>
          <a:p>
            <a:pPr>
              <a:lnSpc>
                <a:spcPct val="105000"/>
              </a:lnSpc>
              <a:spcAft>
                <a:spcPts val="1000"/>
              </a:spcAft>
            </a:pPr>
            <a:r>
              <a:rPr b="1" sz="1350">
                <a:solidFill>
                  <a:srgbClr val="B4532A"/>
                </a:solidFill>
              </a:rPr>
              <a:t>Why is this important? </a:t>
            </a:r>
            <a:r>
              <a:rPr sz="1300">
                <a:solidFill>
                  <a:srgbClr val="221B14"/>
                </a:solidFill>
              </a:rPr>
              <a:t>Tourist visits in India more than doubled (120 cr in 2014 → 250 cr in 2023). Personalised, timed, budget-safe plans spread visitors to lesser-known sites and put money into local eateries, stays and artisans.</a:t>
            </a:r>
          </a:p>
          <a:p>
            <a:pPr>
              <a:lnSpc>
                <a:spcPct val="105000"/>
              </a:lnSpc>
              <a:spcAft>
                <a:spcPts val="1000"/>
              </a:spcAft>
            </a:pPr>
            <a:r>
              <a:rPr b="1" sz="1350">
                <a:solidFill>
                  <a:srgbClr val="B4532A"/>
                </a:solidFill>
              </a:rPr>
              <a:t>Tourism location / context: </a:t>
            </a:r>
            <a:r>
              <a:rPr sz="1300">
                <a:solidFill>
                  <a:srgbClr val="221B14"/>
                </a:solidFill>
              </a:rPr>
              <a:t>Bagalkot district alone has three world-class Chalukyan sites within 40 km (Pattadakal is UNESCO), yet most visitors see just one. Remote sites have weak mobile data, so the AI must work offline.</a:t>
            </a:r>
          </a:p>
        </p:txBody>
      </p:sp>
      <p:sp>
        <p:nvSpPr>
          <p:cNvPr id="5" name="TextBox 4"/>
          <p:cNvSpPr txBox="1"/>
          <p:nvPr/>
        </p:nvSpPr>
        <p:spPr>
          <a:xfrm>
            <a:off x="548640" y="6473952"/>
            <a:ext cx="10972800" cy="182880"/>
          </a:xfrm>
          <a:prstGeom prst="rect">
            <a:avLst/>
          </a:prstGeom>
          <a:noFill/>
        </p:spPr>
        <p:txBody>
          <a:bodyPr wrap="none">
            <a:spAutoFit/>
          </a:bodyPr>
          <a:lstStyle/>
          <a:p>
            <a:pPr algn="ctr">
              <a:defRPr sz="900"/>
            </a:pPr>
            <a:r>
              <a:t>AI to Redesign Tourism • Bagalkot • 25 September 2026</a:t>
            </a:r>
          </a:p>
        </p:txBody>
      </p:sp>
      <p:pic>
        <p:nvPicPr>
          <p:cNvPr id="7" name="Picture 6" descr="bvvs_bec_logo_crop.png"/>
          <p:cNvPicPr>
            <a:picLocks noChangeAspect="1"/>
          </p:cNvPicPr>
          <p:nvPr/>
        </p:nvPicPr>
        <p:blipFill>
          <a:blip r:embed="rId2"/>
          <a:stretch>
            <a:fillRect/>
          </a:stretch>
        </p:blipFill>
        <p:spPr>
          <a:xfrm>
            <a:off x="11369040" y="64008"/>
            <a:ext cx="543306" cy="566928"/>
          </a:xfrm>
          <a:prstGeom prst="rect">
            <a:avLst/>
          </a:prstGeom>
        </p:spPr>
      </p:pic>
      <p:pic>
        <p:nvPicPr>
          <p:cNvPr id="2050" name="Picture 2"/>
          <p:cNvPicPr>
            <a:picLocks noChangeAspect="1" noChangeArrowheads="1"/>
          </p:cNvPicPr>
          <p:nvPr/>
        </p:nvPicPr>
        <p:blipFill>
          <a:blip r:embed="rId3"/>
          <a:srcRect/>
          <a:stretch>
            <a:fillRect/>
          </a:stretch>
        </p:blipFill>
        <p:spPr bwMode="auto">
          <a:xfrm>
            <a:off x="0" y="0"/>
            <a:ext cx="1672041" cy="480902"/>
          </a:xfrm>
          <a:prstGeom prst="rect">
            <a:avLst/>
          </a:prstGeom>
          <a:noFill/>
          <a:ln w="9525">
            <a:noFill/>
            <a:miter lim="800000"/>
            <a:headEnd/>
            <a:tailEnd/>
          </a:ln>
          <a:effectLst/>
        </p:spPr>
      </p:pic>
      <p:pic>
        <p:nvPicPr>
          <p:cNvPr id="2051" name="Picture 2050" descr="v_problem_c.png"/>
          <p:cNvPicPr>
            <a:picLocks noChangeAspect="1"/>
          </p:cNvPicPr>
          <p:nvPr/>
        </p:nvPicPr>
        <p:blipFill>
          <a:blip r:embed="rId4"/>
          <a:stretch>
            <a:fillRect/>
          </a:stretch>
        </p:blipFill>
        <p:spPr>
          <a:xfrm>
            <a:off x="6446520" y="1417320"/>
            <a:ext cx="5257800" cy="4381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822960"/>
            <a:ext cx="10972800" cy="640080"/>
          </a:xfrm>
          <a:prstGeom prst="rect">
            <a:avLst/>
          </a:prstGeom>
          <a:noFill/>
        </p:spPr>
        <p:txBody>
          <a:bodyPr wrap="none">
            <a:spAutoFit/>
          </a:bodyPr>
          <a:lstStyle/>
          <a:p>
            <a:pPr>
              <a:defRPr sz="2800" b="1"/>
            </a:pPr>
            <a:r>
              <a:t>2. Proposed AI Solution</a:t>
            </a:r>
          </a:p>
        </p:txBody>
      </p:sp>
      <p:sp>
        <p:nvSpPr>
          <p:cNvPr id="3" name="TextBox 2"/>
          <p:cNvSpPr txBox="1"/>
          <p:nvPr/>
        </p:nvSpPr>
        <p:spPr>
          <a:xfrm>
            <a:off x="548640" y="1417320"/>
            <a:ext cx="5760720" cy="4389120"/>
          </a:xfrm>
          <a:prstGeom prst="rect">
            <a:avLst/>
          </a:prstGeom>
          <a:noFill/>
        </p:spPr>
        <p:txBody>
          <a:bodyPr wrap="square">
            <a:spAutoFit/>
          </a:bodyPr>
          <a:lstStyle/>
          <a:p>
            <a:pPr>
              <a:lnSpc>
                <a:spcPct val="105000"/>
              </a:lnSpc>
              <a:spcAft>
                <a:spcPts val="800"/>
              </a:spcAft>
              <a:defRPr sz="2000"/>
            </a:pPr>
            <a:r>
              <a:rPr b="1" sz="1350">
                <a:solidFill>
                  <a:srgbClr val="B4532A"/>
                </a:solidFill>
              </a:rPr>
              <a:t>Solution in 2–3 points:</a:t>
            </a:r>
          </a:p>
          <a:p>
            <a:pPr lvl="1">
              <a:lnSpc>
                <a:spcPct val="105000"/>
              </a:lnSpc>
              <a:spcAft>
                <a:spcPts val="400"/>
              </a:spcAft>
            </a:pPr>
            <a:r>
              <a:rPr b="1" sz="1350">
                <a:solidFill>
                  <a:srgbClr val="B4532A"/>
                </a:solidFill>
              </a:rPr>
              <a:t>1. </a:t>
            </a:r>
            <a:r>
              <a:rPr sz="1300">
                <a:solidFill>
                  <a:srgbClr val="221B14"/>
                </a:solidFill>
              </a:rPr>
              <a:t>Ask four things: live GPS location, interests, days &amp; start time, members + budget + buffer. The AI ranks 175 curated places across all 31 districts and explains every pick.</a:t>
            </a:r>
          </a:p>
          <a:p>
            <a:pPr lvl="1">
              <a:lnSpc>
                <a:spcPct val="105000"/>
              </a:lnSpc>
              <a:spcAft>
                <a:spcPts val="400"/>
              </a:spcAft>
            </a:pPr>
            <a:r>
              <a:rPr b="1" sz="1350">
                <a:solidFill>
                  <a:srgbClr val="B4532A"/>
                </a:solidFill>
              </a:rPr>
              <a:t>2. </a:t>
            </a:r>
            <a:r>
              <a:rPr sz="1300">
                <a:solidFill>
                  <a:srgbClr val="221B14"/>
                </a:solidFill>
              </a:rPr>
              <a:t>Build a day-by-day plan: optimised route &amp; navigation, breakfast / lunch / snacks / dinner at the right hour (with meal stops on the way), a stay each night and activities, all within budget + buffer.</a:t>
            </a:r>
          </a:p>
          <a:p>
            <a:pPr lvl="1">
              <a:lnSpc>
                <a:spcPct val="105000"/>
              </a:lnSpc>
              <a:spcAft>
                <a:spcPts val="400"/>
              </a:spcAft>
            </a:pPr>
            <a:r>
              <a:rPr b="1" sz="1350">
                <a:solidFill>
                  <a:srgbClr val="B4532A"/>
                </a:solidFill>
              </a:rPr>
              <a:t>3. </a:t>
            </a:r>
            <a:r>
              <a:rPr sz="1300">
                <a:solidFill>
                  <a:srgbClr val="221B14"/>
                </a:solidFill>
              </a:rPr>
              <a:t>“Explore right now” mode and an AI chat assistant (Gemini + offline) in English and ಕನ್ನಡ.</a:t>
            </a:r>
          </a:p>
          <a:p>
            <a:pPr>
              <a:lnSpc>
                <a:spcPct val="105000"/>
              </a:lnSpc>
              <a:spcAft>
                <a:spcPts val="800"/>
              </a:spcAft>
            </a:pPr>
            <a:r>
              <a:rPr b="1" sz="1350">
                <a:solidFill>
                  <a:srgbClr val="B4532A"/>
                </a:solidFill>
              </a:rPr>
              <a:t>AI used: </a:t>
            </a:r>
            <a:r>
              <a:rPr sz="1300">
                <a:solidFill>
                  <a:srgbClr val="221B14"/>
                </a:solidFill>
              </a:rPr>
              <a:t>TF-IDF content-based recommender + logistic-regression learning-to-rank (8 context features) + MMR diversity + Rocchio feedback learning · orienteering route optimisation with 2-opt · crowd &amp; sunset models · Gemini LLM grounded on the computed plan.</a:t>
            </a:r>
          </a:p>
          <a:p>
            <a:pPr>
              <a:lnSpc>
                <a:spcPct val="105000"/>
              </a:lnSpc>
              <a:spcAft>
                <a:spcPts val="800"/>
              </a:spcAft>
            </a:pPr>
            <a:r>
              <a:rPr b="1" sz="1350">
                <a:solidFill>
                  <a:srgbClr val="B4532A"/>
                </a:solidFill>
              </a:rPr>
              <a:t>Innovation: </a:t>
            </a:r>
            <a:r>
              <a:rPr sz="1300">
                <a:solidFill>
                  <a:srgbClr val="221B14"/>
                </a:solidFill>
              </a:rPr>
              <a:t>Explainable picks (“why this place”), meal-time-aware food on the route, a budget + buffer optimiser that trims plans automatically, government stays (KSTDC / JLR) first, and on-device AI that works offline in ~40 ms.</a:t>
            </a:r>
          </a:p>
        </p:txBody>
      </p:sp>
      <p:sp>
        <p:nvSpPr>
          <p:cNvPr id="5" name="TextBox 4"/>
          <p:cNvSpPr txBox="1"/>
          <p:nvPr/>
        </p:nvSpPr>
        <p:spPr>
          <a:xfrm>
            <a:off x="548640" y="6473952"/>
            <a:ext cx="10972800" cy="182880"/>
          </a:xfrm>
          <a:prstGeom prst="rect">
            <a:avLst/>
          </a:prstGeom>
          <a:noFill/>
        </p:spPr>
        <p:txBody>
          <a:bodyPr wrap="none">
            <a:spAutoFit/>
          </a:bodyPr>
          <a:lstStyle/>
          <a:p>
            <a:pPr algn="ctr">
              <a:defRPr sz="900"/>
            </a:pPr>
            <a:r>
              <a:t>AI to Redesign Tourism • Bagalkot • 25 September 2026</a:t>
            </a:r>
          </a:p>
        </p:txBody>
      </p:sp>
      <p:pic>
        <p:nvPicPr>
          <p:cNvPr id="7" name="Picture 6" descr="bvvs_bec_logo_crop.png"/>
          <p:cNvPicPr>
            <a:picLocks noChangeAspect="1"/>
          </p:cNvPicPr>
          <p:nvPr/>
        </p:nvPicPr>
        <p:blipFill>
          <a:blip r:embed="rId2"/>
          <a:stretch>
            <a:fillRect/>
          </a:stretch>
        </p:blipFill>
        <p:spPr>
          <a:xfrm>
            <a:off x="11369040" y="64008"/>
            <a:ext cx="543306" cy="566928"/>
          </a:xfrm>
          <a:prstGeom prst="rect">
            <a:avLst/>
          </a:prstGeom>
        </p:spPr>
      </p:pic>
      <p:pic>
        <p:nvPicPr>
          <p:cNvPr id="3074" name="Picture 2"/>
          <p:cNvPicPr>
            <a:picLocks noChangeAspect="1" noChangeArrowheads="1"/>
          </p:cNvPicPr>
          <p:nvPr/>
        </p:nvPicPr>
        <p:blipFill>
          <a:blip r:embed="rId3"/>
          <a:srcRect/>
          <a:stretch>
            <a:fillRect/>
          </a:stretch>
        </p:blipFill>
        <p:spPr bwMode="auto">
          <a:xfrm>
            <a:off x="229855" y="64008"/>
            <a:ext cx="2183735" cy="628072"/>
          </a:xfrm>
          <a:prstGeom prst="rect">
            <a:avLst/>
          </a:prstGeom>
          <a:noFill/>
          <a:ln w="9525">
            <a:noFill/>
            <a:miter lim="800000"/>
            <a:headEnd/>
            <a:tailEnd/>
          </a:ln>
          <a:effectLst/>
        </p:spPr>
      </p:pic>
      <p:pic>
        <p:nvPicPr>
          <p:cNvPr id="3075" name="Picture 3074" descr="v_workflow_c.png"/>
          <p:cNvPicPr>
            <a:picLocks noChangeAspect="1"/>
          </p:cNvPicPr>
          <p:nvPr/>
        </p:nvPicPr>
        <p:blipFill>
          <a:blip r:embed="rId4"/>
          <a:stretch>
            <a:fillRect/>
          </a:stretch>
        </p:blipFill>
        <p:spPr>
          <a:xfrm>
            <a:off x="6446520" y="1417320"/>
            <a:ext cx="5257800" cy="417118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822960"/>
            <a:ext cx="10972800" cy="640080"/>
          </a:xfrm>
          <a:prstGeom prst="rect">
            <a:avLst/>
          </a:prstGeom>
          <a:noFill/>
        </p:spPr>
        <p:txBody>
          <a:bodyPr wrap="none">
            <a:spAutoFit/>
          </a:bodyPr>
          <a:lstStyle/>
          <a:p>
            <a:pPr>
              <a:defRPr sz="2800" b="1"/>
            </a:pPr>
            <a:r>
              <a:t>3. Technology &amp; Architecture</a:t>
            </a:r>
          </a:p>
        </p:txBody>
      </p:sp>
      <p:sp>
        <p:nvSpPr>
          <p:cNvPr id="3" name="TextBox 2"/>
          <p:cNvSpPr txBox="1"/>
          <p:nvPr/>
        </p:nvSpPr>
        <p:spPr>
          <a:xfrm>
            <a:off x="548640" y="1417320"/>
            <a:ext cx="5760720" cy="4389120"/>
          </a:xfrm>
          <a:prstGeom prst="rect">
            <a:avLst/>
          </a:prstGeom>
          <a:noFill/>
        </p:spPr>
        <p:txBody>
          <a:bodyPr wrap="square">
            <a:spAutoFit/>
          </a:bodyPr>
          <a:lstStyle/>
          <a:p>
            <a:pPr>
              <a:lnSpc>
                <a:spcPct val="105000"/>
              </a:lnSpc>
              <a:spcAft>
                <a:spcPts val="800"/>
              </a:spcAft>
              <a:defRPr sz="2000"/>
            </a:pPr>
            <a:r>
              <a:rPr b="1" sz="1300">
                <a:solidFill>
                  <a:srgbClr val="B4532A"/>
                </a:solidFill>
              </a:rPr>
              <a:t>AI/ML model: </a:t>
            </a:r>
            <a:r>
              <a:rPr sz="1250">
                <a:solidFill>
                  <a:srgbClr val="221B14"/>
                </a:solidFill>
              </a:rPr>
              <a:t>Logistic-regression ranker over TF-IDF interest match + proximity, popularity, season, predicted crowd, group, budget and opening-hours features — trained in Python (scikit-learn), runs in the browser. Planner: orienteering heuristic + 2-opt + time-window scheduling.</a:t>
            </a:r>
          </a:p>
          <a:p>
            <a:pPr>
              <a:lnSpc>
                <a:spcPct val="105000"/>
              </a:lnSpc>
              <a:spcAft>
                <a:spcPts val="800"/>
              </a:spcAft>
            </a:pPr>
            <a:r>
              <a:rPr b="1" sz="1300">
                <a:solidFill>
                  <a:srgbClr val="B4532A"/>
                </a:solidFill>
              </a:rPr>
              <a:t>Dataset / data source: </a:t>
            </a:r>
            <a:r>
              <a:rPr sz="1250">
                <a:solidFill>
                  <a:srgbClr val="221B14"/>
                </a:solidFill>
              </a:rPr>
              <a:t>Curated Karnataka knowledge base (175 places, 31 districts, 60 dishes, 29 eateries, 49 stays incl. KSTDC/JLR) · OpenStreetMap (Overpass) · OSRM · Open-Meteo · Wikimedia Commons · 1,200 simulated tourists for training.</a:t>
            </a:r>
          </a:p>
          <a:p>
            <a:pPr>
              <a:lnSpc>
                <a:spcPct val="105000"/>
              </a:lnSpc>
              <a:spcAft>
                <a:spcPts val="800"/>
              </a:spcAft>
            </a:pPr>
            <a:r>
              <a:rPr b="1" sz="1300">
                <a:solidFill>
                  <a:srgbClr val="B4532A"/>
                </a:solidFill>
              </a:rPr>
              <a:t>Software: </a:t>
            </a:r>
            <a:r>
              <a:rPr sz="1250">
                <a:solidFill>
                  <a:srgbClr val="221B14"/>
                </a:solidFill>
              </a:rPr>
              <a:t>HTML/CSS/JavaScript PWA, Leaflet maps, zero-dependency Node.js server, Vercel serverless function, Python (pandas, scikit-learn, matplotlib), VS Code.</a:t>
            </a:r>
          </a:p>
          <a:p>
            <a:pPr>
              <a:lnSpc>
                <a:spcPct val="105000"/>
              </a:lnSpc>
              <a:spcAft>
                <a:spcPts val="800"/>
              </a:spcAft>
            </a:pPr>
            <a:r>
              <a:rPr b="1" sz="1300">
                <a:solidFill>
                  <a:srgbClr val="B4532A"/>
                </a:solidFill>
              </a:rPr>
              <a:t>IoT / APIs / hardware: </a:t>
            </a:r>
            <a:r>
              <a:rPr sz="1250">
                <a:solidFill>
                  <a:srgbClr val="221B14"/>
                </a:solidFill>
              </a:rPr>
              <a:t>Phone GPS (Geolocation API), OSRM routing, Overpass POIs, Open-Meteo weather, Nominatim, Google Maps navigation links, Gemini API (key kept server-side), Web Speech. Runs on any phone or laptop — no GPU.</a:t>
            </a:r>
          </a:p>
          <a:p>
            <a:pPr>
              <a:lnSpc>
                <a:spcPct val="105000"/>
              </a:lnSpc>
              <a:spcAft>
                <a:spcPts val="800"/>
              </a:spcAft>
            </a:pPr>
            <a:r>
              <a:rPr b="1" sz="1300">
                <a:solidFill>
                  <a:srgbClr val="B4532A"/>
                </a:solidFill>
              </a:rPr>
              <a:t>Workflow: </a:t>
            </a:r>
            <a:r>
              <a:rPr sz="1250">
                <a:solidFill>
                  <a:srgbClr val="221B14"/>
                </a:solidFill>
              </a:rPr>
              <a:t>Input (GPS + interests + time + group + budget) → AI (rank → route → schedule meals &amp; stays → fit budget) → Output (itinerary, map, costs, chat).</a:t>
            </a:r>
          </a:p>
        </p:txBody>
      </p:sp>
      <p:sp>
        <p:nvSpPr>
          <p:cNvPr id="5" name="TextBox 4"/>
          <p:cNvSpPr txBox="1"/>
          <p:nvPr/>
        </p:nvSpPr>
        <p:spPr>
          <a:xfrm>
            <a:off x="548640" y="6473952"/>
            <a:ext cx="10972800" cy="182880"/>
          </a:xfrm>
          <a:prstGeom prst="rect">
            <a:avLst/>
          </a:prstGeom>
          <a:noFill/>
        </p:spPr>
        <p:txBody>
          <a:bodyPr wrap="none">
            <a:spAutoFit/>
          </a:bodyPr>
          <a:lstStyle/>
          <a:p>
            <a:pPr algn="ctr">
              <a:defRPr sz="900"/>
            </a:pPr>
            <a:r>
              <a:t>AI to Redesign Tourism • Bagalkot • 25 September 2026</a:t>
            </a:r>
          </a:p>
        </p:txBody>
      </p:sp>
      <p:pic>
        <p:nvPicPr>
          <p:cNvPr id="7" name="Picture 6" descr="bvvs_bec_logo_crop.png"/>
          <p:cNvPicPr>
            <a:picLocks noChangeAspect="1"/>
          </p:cNvPicPr>
          <p:nvPr/>
        </p:nvPicPr>
        <p:blipFill>
          <a:blip r:embed="rId2"/>
          <a:stretch>
            <a:fillRect/>
          </a:stretch>
        </p:blipFill>
        <p:spPr>
          <a:xfrm>
            <a:off x="11369040" y="64008"/>
            <a:ext cx="543306" cy="566928"/>
          </a:xfrm>
          <a:prstGeom prst="rect">
            <a:avLst/>
          </a:prstGeom>
        </p:spPr>
      </p:pic>
      <p:pic>
        <p:nvPicPr>
          <p:cNvPr id="4098" name="Picture 2"/>
          <p:cNvPicPr>
            <a:picLocks noChangeAspect="1" noChangeArrowheads="1"/>
          </p:cNvPicPr>
          <p:nvPr/>
        </p:nvPicPr>
        <p:blipFill>
          <a:blip r:embed="rId3"/>
          <a:srcRect/>
          <a:stretch>
            <a:fillRect/>
          </a:stretch>
        </p:blipFill>
        <p:spPr bwMode="auto">
          <a:xfrm>
            <a:off x="71334" y="198580"/>
            <a:ext cx="1503252" cy="432356"/>
          </a:xfrm>
          <a:prstGeom prst="rect">
            <a:avLst/>
          </a:prstGeom>
          <a:noFill/>
          <a:ln w="9525">
            <a:noFill/>
            <a:miter lim="800000"/>
            <a:headEnd/>
            <a:tailEnd/>
          </a:ln>
          <a:effectLst/>
        </p:spPr>
      </p:pic>
      <p:pic>
        <p:nvPicPr>
          <p:cNvPr id="4099" name="Picture 4098" descr="v_arch_c.png"/>
          <p:cNvPicPr>
            <a:picLocks noChangeAspect="1"/>
          </p:cNvPicPr>
          <p:nvPr/>
        </p:nvPicPr>
        <p:blipFill>
          <a:blip r:embed="rId4"/>
          <a:stretch>
            <a:fillRect/>
          </a:stretch>
        </p:blipFill>
        <p:spPr>
          <a:xfrm>
            <a:off x="6446520" y="1417320"/>
            <a:ext cx="5257800" cy="399592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685800"/>
            <a:ext cx="10972800" cy="640080"/>
          </a:xfrm>
          <a:prstGeom prst="rect">
            <a:avLst/>
          </a:prstGeom>
          <a:noFill/>
        </p:spPr>
        <p:txBody>
          <a:bodyPr wrap="none">
            <a:spAutoFit/>
          </a:bodyPr>
          <a:lstStyle/>
          <a:p>
            <a:pPr>
              <a:defRPr sz="2800" b="1"/>
            </a:pPr>
            <a:r>
              <a:t>4. Working Prototype</a:t>
            </a:r>
          </a:p>
        </p:txBody>
      </p:sp>
      <p:sp>
        <p:nvSpPr>
          <p:cNvPr id="3" name="TextBox 2"/>
          <p:cNvSpPr txBox="1"/>
          <p:nvPr/>
        </p:nvSpPr>
        <p:spPr>
          <a:xfrm>
            <a:off x="548640" y="1417320"/>
            <a:ext cx="5760720" cy="4389120"/>
          </a:xfrm>
          <a:prstGeom prst="rect">
            <a:avLst/>
          </a:prstGeom>
          <a:noFill/>
        </p:spPr>
        <p:txBody>
          <a:bodyPr wrap="square">
            <a:spAutoFit/>
          </a:bodyPr>
          <a:lstStyle/>
          <a:p>
            <a:pPr>
              <a:lnSpc>
                <a:spcPct val="105000"/>
              </a:lnSpc>
              <a:spcAft>
                <a:spcPts val="1000"/>
              </a:spcAft>
              <a:defRPr sz="2000"/>
            </a:pPr>
            <a:r>
              <a:rPr b="1" sz="1350">
                <a:solidFill>
                  <a:srgbClr val="B4532A"/>
                </a:solidFill>
              </a:rPr>
              <a:t>Prototype status: </a:t>
            </a:r>
            <a:r>
              <a:rPr sz="1300">
                <a:solidFill>
                  <a:srgbClr val="221B14"/>
                </a:solidFill>
              </a:rPr>
              <a:t>Fully working web app on laptop and phone — installable (PWA), works offline, deployable free on Vercel. Complete source code with a VS Code run guide.</a:t>
            </a:r>
          </a:p>
          <a:p>
            <a:pPr>
              <a:lnSpc>
                <a:spcPct val="105000"/>
              </a:lnSpc>
              <a:spcAft>
                <a:spcPts val="1000"/>
              </a:spcAft>
            </a:pPr>
            <a:r>
              <a:rPr b="1" sz="1350">
                <a:solidFill>
                  <a:srgbClr val="B4532A"/>
                </a:solidFill>
              </a:rPr>
              <a:t>Key features: </a:t>
            </a:r>
            <a:r>
              <a:rPr sz="1300">
                <a:solidFill>
                  <a:srgbClr val="221B14"/>
                </a:solidFill>
              </a:rPr>
              <a:t>Live-GPS start · 15 interests · 1–7 day plans or “right now” mode · food by the hour + meal stops on the way · night stays · budget + buffer meter · 👍/👎 learning · map + one-tap navigation · WhatsApp / PDF · Kannada UI.</a:t>
            </a:r>
          </a:p>
          <a:p>
            <a:pPr>
              <a:lnSpc>
                <a:spcPct val="105000"/>
              </a:lnSpc>
              <a:spcAft>
                <a:spcPts val="1000"/>
              </a:spcAft>
            </a:pPr>
            <a:r>
              <a:rPr b="1" sz="1350">
                <a:solidFill>
                  <a:srgbClr val="B4532A"/>
                </a:solidFill>
              </a:rPr>
              <a:t>How the tourist uses it: </a:t>
            </a:r>
            <a:r>
              <a:rPr sz="1300">
                <a:solidFill>
                  <a:srgbClr val="221B14"/>
                </a:solidFill>
              </a:rPr>
              <a:t>Get Started → share location → pick interests → days &amp; start time → members, budget &amp; buffer → Generate → follow the plan with “Navigate” or ask the AI.</a:t>
            </a:r>
          </a:p>
          <a:p>
            <a:pPr>
              <a:lnSpc>
                <a:spcPct val="105000"/>
              </a:lnSpc>
              <a:spcAft>
                <a:spcPts val="1000"/>
              </a:spcAft>
            </a:pPr>
            <a:r>
              <a:rPr b="1" sz="1350">
                <a:solidFill>
                  <a:srgbClr val="B4532A"/>
                </a:solidFill>
              </a:rPr>
              <a:t>Demonstration steps: </a:t>
            </a:r>
            <a:r>
              <a:rPr sz="1300">
                <a:solidFill>
                  <a:srgbClr val="221B14"/>
                </a:solidFill>
              </a:rPr>
              <a:t>1) Live location at BEC Bagalkot  2) Heritage + boating, 2 days, family of 4, ₹15,000 + ₹3,000 buffer  3) Itinerary with reasons, meals &amp; KSTDC stay  4) Budget meter  5) 👎 re-ranks instantly  6) Ask AI “what should I eat now?”</a:t>
            </a:r>
          </a:p>
        </p:txBody>
      </p:sp>
      <p:sp>
        <p:nvSpPr>
          <p:cNvPr id="5" name="TextBox 4"/>
          <p:cNvSpPr txBox="1"/>
          <p:nvPr/>
        </p:nvSpPr>
        <p:spPr>
          <a:xfrm>
            <a:off x="548640" y="6473952"/>
            <a:ext cx="10972800" cy="182880"/>
          </a:xfrm>
          <a:prstGeom prst="rect">
            <a:avLst/>
          </a:prstGeom>
          <a:noFill/>
        </p:spPr>
        <p:txBody>
          <a:bodyPr wrap="none">
            <a:spAutoFit/>
          </a:bodyPr>
          <a:lstStyle/>
          <a:p>
            <a:pPr algn="ctr">
              <a:defRPr sz="900"/>
            </a:pPr>
            <a:r>
              <a:t>AI to Redesign Tourism • Bagalkot • 25 September 2026</a:t>
            </a:r>
          </a:p>
        </p:txBody>
      </p:sp>
      <p:pic>
        <p:nvPicPr>
          <p:cNvPr id="7" name="Picture 6" descr="bvvs_bec_logo_crop.png"/>
          <p:cNvPicPr>
            <a:picLocks noChangeAspect="1"/>
          </p:cNvPicPr>
          <p:nvPr/>
        </p:nvPicPr>
        <p:blipFill>
          <a:blip r:embed="rId2"/>
          <a:stretch>
            <a:fillRect/>
          </a:stretch>
        </p:blipFill>
        <p:spPr>
          <a:xfrm>
            <a:off x="11369040" y="64008"/>
            <a:ext cx="543306" cy="566928"/>
          </a:xfrm>
          <a:prstGeom prst="rect">
            <a:avLst/>
          </a:prstGeom>
        </p:spPr>
      </p:pic>
      <p:pic>
        <p:nvPicPr>
          <p:cNvPr id="5122" name="Picture 2"/>
          <p:cNvPicPr>
            <a:picLocks noChangeAspect="1" noChangeArrowheads="1"/>
          </p:cNvPicPr>
          <p:nvPr/>
        </p:nvPicPr>
        <p:blipFill>
          <a:blip r:embed="rId3"/>
          <a:srcRect/>
          <a:stretch>
            <a:fillRect/>
          </a:stretch>
        </p:blipFill>
        <p:spPr bwMode="auto">
          <a:xfrm>
            <a:off x="108695" y="213830"/>
            <a:ext cx="1450230" cy="417106"/>
          </a:xfrm>
          <a:prstGeom prst="rect">
            <a:avLst/>
          </a:prstGeom>
          <a:noFill/>
          <a:ln w="9525">
            <a:noFill/>
            <a:miter lim="800000"/>
            <a:headEnd/>
            <a:tailEnd/>
          </a:ln>
          <a:effectLst/>
        </p:spPr>
      </p:pic>
      <p:pic>
        <p:nvPicPr>
          <p:cNvPr id="5123" name="Picture 5122" descr="v_screens_c.png"/>
          <p:cNvPicPr>
            <a:picLocks noChangeAspect="1"/>
          </p:cNvPicPr>
          <p:nvPr/>
        </p:nvPicPr>
        <p:blipFill>
          <a:blip r:embed="rId4"/>
          <a:stretch>
            <a:fillRect/>
          </a:stretch>
        </p:blipFill>
        <p:spPr>
          <a:xfrm>
            <a:off x="6446520" y="1417320"/>
            <a:ext cx="5257800" cy="460933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822960"/>
            <a:ext cx="10972800" cy="640080"/>
          </a:xfrm>
          <a:prstGeom prst="rect">
            <a:avLst/>
          </a:prstGeom>
          <a:noFill/>
        </p:spPr>
        <p:txBody>
          <a:bodyPr wrap="none">
            <a:spAutoFit/>
          </a:bodyPr>
          <a:lstStyle/>
          <a:p>
            <a:pPr>
              <a:defRPr sz="2800" b="1"/>
            </a:pPr>
            <a:r>
              <a:t>5. Results &amp; Tourism Impact</a:t>
            </a:r>
          </a:p>
        </p:txBody>
      </p:sp>
      <p:sp>
        <p:nvSpPr>
          <p:cNvPr id="3" name="TextBox 2"/>
          <p:cNvSpPr txBox="1"/>
          <p:nvPr/>
        </p:nvSpPr>
        <p:spPr>
          <a:xfrm>
            <a:off x="548640" y="1417320"/>
            <a:ext cx="5760720" cy="4389120"/>
          </a:xfrm>
          <a:prstGeom prst="rect">
            <a:avLst/>
          </a:prstGeom>
          <a:noFill/>
        </p:spPr>
        <p:txBody>
          <a:bodyPr wrap="square">
            <a:spAutoFit/>
          </a:bodyPr>
          <a:lstStyle/>
          <a:p>
            <a:pPr>
              <a:lnSpc>
                <a:spcPct val="105000"/>
              </a:lnSpc>
              <a:spcAft>
                <a:spcPts val="800"/>
              </a:spcAft>
              <a:defRPr sz="2000"/>
            </a:pPr>
            <a:r>
              <a:rPr b="1" sz="1300">
                <a:solidFill>
                  <a:srgbClr val="B4532A"/>
                </a:solidFill>
              </a:rPr>
              <a:t>Key result / performance: </a:t>
            </a:r>
            <a:r>
              <a:rPr sz="1250">
                <a:solidFill>
                  <a:srgbClr val="221B14"/>
                </a:solidFill>
              </a:rPr>
              <a:t>On 240 unseen simulated tourists: NDCG@10 0.65 vs 0.52 for the best simple baseline (+26%), P@5 0.71, AUC 0.81. Across 300 trips: 28% shorter routes, 99% of plans within budget + buffer, 100% of meals on time, ~40 ms per plan.</a:t>
            </a:r>
          </a:p>
          <a:p>
            <a:pPr>
              <a:lnSpc>
                <a:spcPct val="105000"/>
              </a:lnSpc>
              <a:spcAft>
                <a:spcPts val="800"/>
              </a:spcAft>
            </a:pPr>
            <a:r>
              <a:rPr b="1" sz="1300">
                <a:solidFill>
                  <a:srgbClr val="B4532A"/>
                </a:solidFill>
              </a:rPr>
              <a:t>Tourist benefit: </a:t>
            </a:r>
            <a:r>
              <a:rPr sz="1250">
                <a:solidFill>
                  <a:srgbClr val="221B14"/>
                </a:solidFill>
              </a:rPr>
              <a:t>One plan instead of 6+ apps — fewer missed sites, local food at the right hour, a stay near the last stop, no budget shocks, Kannada support and one-tap helplines (112 · 1091 · 1363).</a:t>
            </a:r>
          </a:p>
          <a:p>
            <a:pPr>
              <a:lnSpc>
                <a:spcPct val="105000"/>
              </a:lnSpc>
              <a:spcAft>
                <a:spcPts val="800"/>
              </a:spcAft>
            </a:pPr>
            <a:r>
              <a:rPr b="1" sz="1300">
                <a:solidFill>
                  <a:srgbClr val="B4532A"/>
                </a:solidFill>
              </a:rPr>
              <a:t>Impact on tourism: </a:t>
            </a:r>
            <a:r>
              <a:rPr sz="1250">
                <a:solidFill>
                  <a:srgbClr val="221B14"/>
                </a:solidFill>
              </a:rPr>
              <a:t>Spreads visitors from Hampi to Aihole, Lakkundi and Itagi; promotes KSTDC/JLR stays, khanavalis and crafts (Ilkal sarees, Bidriware); nudges off-peak visits and lower-CO₂ KSRTC travel.</a:t>
            </a:r>
          </a:p>
          <a:p>
            <a:pPr>
              <a:lnSpc>
                <a:spcPct val="105000"/>
              </a:lnSpc>
              <a:spcAft>
                <a:spcPts val="800"/>
              </a:spcAft>
            </a:pPr>
            <a:r>
              <a:rPr b="1" sz="1300">
                <a:solidFill>
                  <a:srgbClr val="B4532A"/>
                </a:solidFill>
              </a:rPr>
              <a:t>Cost / feasibility: </a:t>
            </a:r>
            <a:r>
              <a:rPr sz="1250">
                <a:solidFill>
                  <a:srgbClr val="221B14"/>
                </a:solidFill>
              </a:rPr>
              <a:t>₹0 to run — free APIs and free hosting, zero-dependency code, works offline on low-end phones; ready to plug in Karnataka Tourism's official data.</a:t>
            </a:r>
          </a:p>
          <a:p>
            <a:pPr>
              <a:lnSpc>
                <a:spcPct val="105000"/>
              </a:lnSpc>
              <a:spcAft>
                <a:spcPts val="800"/>
              </a:spcAft>
            </a:pPr>
            <a:r>
              <a:rPr b="1" sz="1300">
                <a:solidFill>
                  <a:srgbClr val="B4532A"/>
                </a:solidFill>
              </a:rPr>
              <a:t>Future scope: </a:t>
            </a:r>
            <a:r>
              <a:rPr sz="1250">
                <a:solidFill>
                  <a:srgbClr val="221B14"/>
                </a:solidFill>
              </a:rPr>
              <a:t>Real footfall + feedback-trained models, AR monument recognition, Kannada/Hindi voice guide, KSTDC booking integration, festival crowd forecasting (Hampi Utsav, Dasara).</a:t>
            </a:r>
          </a:p>
        </p:txBody>
      </p:sp>
      <p:sp>
        <p:nvSpPr>
          <p:cNvPr id="4" name="TextBox 3"/>
          <p:cNvSpPr txBox="1"/>
          <p:nvPr/>
        </p:nvSpPr>
        <p:spPr>
          <a:xfrm>
            <a:off x="548640" y="6473952"/>
            <a:ext cx="10972800" cy="182880"/>
          </a:xfrm>
          <a:prstGeom prst="rect">
            <a:avLst/>
          </a:prstGeom>
          <a:noFill/>
        </p:spPr>
        <p:txBody>
          <a:bodyPr wrap="none">
            <a:spAutoFit/>
          </a:bodyPr>
          <a:lstStyle/>
          <a:p>
            <a:pPr algn="ctr">
              <a:defRPr sz="900"/>
            </a:pPr>
            <a:r>
              <a:t>AI to Redesign Tourism • Bagalkot • 25 September 2026</a:t>
            </a:r>
          </a:p>
        </p:txBody>
      </p:sp>
      <p:pic>
        <p:nvPicPr>
          <p:cNvPr id="6" name="Picture 5" descr="bvvs_bec_logo_crop.png"/>
          <p:cNvPicPr>
            <a:picLocks noChangeAspect="1"/>
          </p:cNvPicPr>
          <p:nvPr/>
        </p:nvPicPr>
        <p:blipFill>
          <a:blip r:embed="rId2"/>
          <a:stretch>
            <a:fillRect/>
          </a:stretch>
        </p:blipFill>
        <p:spPr>
          <a:xfrm>
            <a:off x="11369040" y="64008"/>
            <a:ext cx="543306" cy="566928"/>
          </a:xfrm>
          <a:prstGeom prst="rect">
            <a:avLst/>
          </a:prstGeom>
        </p:spPr>
      </p:pic>
      <p:pic>
        <p:nvPicPr>
          <p:cNvPr id="7" name="Picture 2"/>
          <p:cNvPicPr>
            <a:picLocks noChangeAspect="1" noChangeArrowheads="1"/>
          </p:cNvPicPr>
          <p:nvPr/>
        </p:nvPicPr>
        <p:blipFill>
          <a:blip r:embed="rId3"/>
          <a:srcRect/>
          <a:stretch>
            <a:fillRect/>
          </a:stretch>
        </p:blipFill>
        <p:spPr bwMode="auto">
          <a:xfrm>
            <a:off x="108695" y="213830"/>
            <a:ext cx="1450230" cy="417106"/>
          </a:xfrm>
          <a:prstGeom prst="rect">
            <a:avLst/>
          </a:prstGeom>
          <a:noFill/>
          <a:ln w="9525">
            <a:noFill/>
            <a:miter lim="800000"/>
            <a:headEnd/>
            <a:tailEnd/>
          </a:ln>
          <a:effectLst/>
        </p:spPr>
      </p:pic>
      <p:pic>
        <p:nvPicPr>
          <p:cNvPr id="8" name="Picture 7" descr="v_results_c.png"/>
          <p:cNvPicPr>
            <a:picLocks noChangeAspect="1"/>
          </p:cNvPicPr>
          <p:nvPr/>
        </p:nvPicPr>
        <p:blipFill>
          <a:blip r:embed="rId4"/>
          <a:stretch>
            <a:fillRect/>
          </a:stretch>
        </p:blipFill>
        <p:spPr>
          <a:xfrm>
            <a:off x="6446520" y="1417320"/>
            <a:ext cx="5257800" cy="38849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685800"/>
            <a:ext cx="10972800" cy="640080"/>
          </a:xfrm>
          <a:prstGeom prst="rect">
            <a:avLst/>
          </a:prstGeom>
          <a:noFill/>
        </p:spPr>
        <p:txBody>
          <a:bodyPr wrap="none">
            <a:spAutoFit/>
          </a:bodyPr>
          <a:lstStyle/>
          <a:p>
            <a:pPr>
              <a:defRPr sz="2800" b="1"/>
            </a:pPr>
            <a:r>
              <a:t>6. Conclusion &amp; Q&amp;A</a:t>
            </a:r>
          </a:p>
        </p:txBody>
      </p:sp>
      <p:sp>
        <p:nvSpPr>
          <p:cNvPr id="3" name="TextBox 2"/>
          <p:cNvSpPr txBox="1"/>
          <p:nvPr/>
        </p:nvSpPr>
        <p:spPr>
          <a:xfrm>
            <a:off x="548640" y="1417320"/>
            <a:ext cx="5760720" cy="4389120"/>
          </a:xfrm>
          <a:prstGeom prst="rect">
            <a:avLst/>
          </a:prstGeom>
          <a:noFill/>
        </p:spPr>
        <p:txBody>
          <a:bodyPr wrap="square">
            <a:spAutoFit/>
          </a:bodyPr>
          <a:lstStyle/>
          <a:p>
            <a:pPr>
              <a:lnSpc>
                <a:spcPct val="105000"/>
              </a:lnSpc>
              <a:spcAft>
                <a:spcPts val="1200"/>
              </a:spcAft>
              <a:defRPr sz="2000"/>
            </a:pPr>
            <a:r>
              <a:rPr b="1" sz="1400">
                <a:solidFill>
                  <a:srgbClr val="B4532A"/>
                </a:solidFill>
              </a:rPr>
              <a:t>One-line project conclusion:</a:t>
            </a:r>
          </a:p>
          <a:p>
            <a:pPr>
              <a:lnSpc>
                <a:spcPct val="105000"/>
              </a:lnSpc>
              <a:spcAft>
                <a:spcPts val="1200"/>
              </a:spcAft>
            </a:pPr>
            <a:r>
              <a:rPr sz="1500" i="1">
                <a:solidFill>
                  <a:srgbClr val="1D2740"/>
                </a:solidFill>
              </a:rPr>
              <a:t>“Sanchara.AI turns four simple answers into a complete, budget-safe Karnataka trip — places, routes, food, stays and activities — planned by explainable AI in seconds.”</a:t>
            </a:r>
          </a:p>
          <a:p>
            <a:pPr>
              <a:lnSpc>
                <a:spcPct val="105000"/>
              </a:lnSpc>
              <a:spcAft>
                <a:spcPts val="1200"/>
              </a:spcAft>
            </a:pPr>
            <a:r>
              <a:rPr b="1" sz="1400">
                <a:solidFill>
                  <a:srgbClr val="B4532A"/>
                </a:solidFill>
              </a:rPr>
              <a:t>Key innovation: </a:t>
            </a:r>
            <a:r>
              <a:rPr sz="1400">
                <a:solidFill>
                  <a:srgbClr val="221B14"/>
                </a:solidFill>
              </a:rPr>
              <a:t>A hybrid explainable recommender + orienteering route planner with meal-time food and a budget + buffer optimiser, running on-device, offline, in English and ಕನ್ನಡ.</a:t>
            </a:r>
          </a:p>
          <a:p>
            <a:pPr>
              <a:lnSpc>
                <a:spcPct val="105000"/>
              </a:lnSpc>
              <a:spcAft>
                <a:spcPts val="1200"/>
              </a:spcAft>
            </a:pPr>
            <a:r>
              <a:rPr b="1" sz="1400">
                <a:solidFill>
                  <a:srgbClr val="B4532A"/>
                </a:solidFill>
              </a:rPr>
              <a:t>Expected tourism impact: </a:t>
            </a:r>
            <a:r>
              <a:rPr sz="1400">
                <a:solidFill>
                  <a:srgbClr val="221B14"/>
                </a:solidFill>
              </a:rPr>
              <a:t>More travellers discovering North Karnataka beyond one famous site, longer stays and more spend with local businesses — at ₹0 cost to deploy.</a:t>
            </a:r>
          </a:p>
          <a:p>
            <a:pPr>
              <a:lnSpc>
                <a:spcPct val="105000"/>
              </a:lnSpc>
              <a:spcAft>
                <a:spcPts val="1200"/>
              </a:spcAft>
            </a:pPr>
            <a:r>
              <a:rPr b="1" sz="2600">
                <a:solidFill>
                  <a:srgbClr val="1D2740"/>
                </a:solidFill>
              </a:rPr>
              <a:t>THANK YOU</a:t>
            </a:r>
          </a:p>
        </p:txBody>
      </p:sp>
      <p:sp>
        <p:nvSpPr>
          <p:cNvPr id="4" name="TextBox 3"/>
          <p:cNvSpPr txBox="1"/>
          <p:nvPr/>
        </p:nvSpPr>
        <p:spPr>
          <a:xfrm>
            <a:off x="548640" y="6473952"/>
            <a:ext cx="10972800" cy="182880"/>
          </a:xfrm>
          <a:prstGeom prst="rect">
            <a:avLst/>
          </a:prstGeom>
          <a:noFill/>
        </p:spPr>
        <p:txBody>
          <a:bodyPr wrap="none">
            <a:spAutoFit/>
          </a:bodyPr>
          <a:lstStyle/>
          <a:p>
            <a:pPr algn="ctr">
              <a:defRPr sz="900"/>
            </a:pPr>
            <a:r>
              <a:t>AI to Redesign Tourism • Bagalkot • 25 September 2026</a:t>
            </a:r>
          </a:p>
        </p:txBody>
      </p:sp>
      <p:pic>
        <p:nvPicPr>
          <p:cNvPr id="6" name="Picture 5" descr="bvvs_bec_logo_crop.png"/>
          <p:cNvPicPr>
            <a:picLocks noChangeAspect="1"/>
          </p:cNvPicPr>
          <p:nvPr/>
        </p:nvPicPr>
        <p:blipFill>
          <a:blip r:embed="rId2"/>
          <a:stretch>
            <a:fillRect/>
          </a:stretch>
        </p:blipFill>
        <p:spPr>
          <a:xfrm>
            <a:off x="11369040" y="64008"/>
            <a:ext cx="543306" cy="566928"/>
          </a:xfrm>
          <a:prstGeom prst="rect">
            <a:avLst/>
          </a:prstGeom>
        </p:spPr>
      </p:pic>
      <p:pic>
        <p:nvPicPr>
          <p:cNvPr id="7" name="Picture 2"/>
          <p:cNvPicPr>
            <a:picLocks noChangeAspect="1" noChangeArrowheads="1"/>
          </p:cNvPicPr>
          <p:nvPr/>
        </p:nvPicPr>
        <p:blipFill>
          <a:blip r:embed="rId3"/>
          <a:srcRect/>
          <a:stretch>
            <a:fillRect/>
          </a:stretch>
        </p:blipFill>
        <p:spPr bwMode="auto">
          <a:xfrm>
            <a:off x="108695" y="213830"/>
            <a:ext cx="1450230" cy="417106"/>
          </a:xfrm>
          <a:prstGeom prst="rect">
            <a:avLst/>
          </a:prstGeom>
          <a:noFill/>
          <a:ln w="9525">
            <a:noFill/>
            <a:miter lim="800000"/>
            <a:headEnd/>
            <a:tailEnd/>
          </a:ln>
          <a:effectLst/>
        </p:spPr>
      </p:pic>
      <p:pic>
        <p:nvPicPr>
          <p:cNvPr id="8" name="Picture 7" descr="v_thanks.png"/>
          <p:cNvPicPr>
            <a:picLocks noChangeAspect="1"/>
          </p:cNvPicPr>
          <p:nvPr/>
        </p:nvPicPr>
        <p:blipFill>
          <a:blip r:embed="rId4"/>
          <a:stretch>
            <a:fillRect/>
          </a:stretch>
        </p:blipFill>
        <p:spPr>
          <a:xfrm>
            <a:off x="6446520" y="1417320"/>
            <a:ext cx="5257800" cy="460933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6</TotalTime>
  <Words>255</Words>
  <Application>Microsoft Macintosh PowerPoint</Application>
  <PresentationFormat>Custom</PresentationFormat>
  <Paragraphs>51</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Slide 1</vt:lpstr>
      <vt:lpstr>Slide 2</vt:lpstr>
      <vt:lpstr>Slide 3</vt:lpstr>
      <vt:lpstr>Slide 4</vt:lpstr>
      <vt:lpstr>Slide 5</vt:lpstr>
      <vt:lpstr>Slide 6</vt:lpstr>
      <vt:lpstr>Slide 7</vt:lpstr>
    </vt:vector>
  </TitlesOfParts>
  <LinksUpToDate>false</LinksUpToDate>
  <SharedDoc>false</SharedDoc>
  <HyperlinkBase/>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dc:description>generated using python-pptx</dc:description>
  <cp:lastModifiedBy>Admin</cp:lastModifiedBy>
  <cp:revision>2</cp:revision>
  <dcterms:created xsi:type="dcterms:W3CDTF">2013-01-27T09:14:16Z</dcterms:created>
  <dcterms:modified xsi:type="dcterms:W3CDTF">2026-09-21T07:56:41Z</dcterms:modified>
</cp:coreProperties>
</file>